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CB0636-2D75-4D02-851C-E5F3A33517C2}" v="213" dt="2025-12-12T18:40:01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24CC70-919B-4153-B4C1-AA025E05E91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A12983-C286-4DC5-8917-B172CB86187D}">
      <dgm:prSet/>
      <dgm:spPr/>
      <dgm:t>
        <a:bodyPr/>
        <a:lstStyle/>
        <a:p>
          <a:r>
            <a:rPr lang="en-US"/>
            <a:t>Online Retail I dataset (2010–2011). Includes invoice, product, quantity, price, and customer data.</a:t>
          </a:r>
        </a:p>
      </dgm:t>
    </dgm:pt>
    <dgm:pt modelId="{68451451-10F3-477D-8648-62AE38639C5B}" type="parTrans" cxnId="{61D3D8E1-2CBC-4362-A092-CAB33A316890}">
      <dgm:prSet/>
      <dgm:spPr/>
      <dgm:t>
        <a:bodyPr/>
        <a:lstStyle/>
        <a:p>
          <a:endParaRPr lang="en-US"/>
        </a:p>
      </dgm:t>
    </dgm:pt>
    <dgm:pt modelId="{59057794-232B-465A-A767-8B40B2BD73B9}" type="sibTrans" cxnId="{61D3D8E1-2CBC-4362-A092-CAB33A316890}">
      <dgm:prSet/>
      <dgm:spPr/>
      <dgm:t>
        <a:bodyPr/>
        <a:lstStyle/>
        <a:p>
          <a:endParaRPr lang="en-US"/>
        </a:p>
      </dgm:t>
    </dgm:pt>
    <dgm:pt modelId="{96CEF0EE-CBAC-48B7-B7D8-168E2D9B78F1}">
      <dgm:prSet/>
      <dgm:spPr/>
      <dgm:t>
        <a:bodyPr/>
        <a:lstStyle/>
        <a:p>
          <a:r>
            <a:rPr lang="en-US"/>
            <a:t>Chosen for its suitability for all data mining tasks.</a:t>
          </a:r>
        </a:p>
      </dgm:t>
    </dgm:pt>
    <dgm:pt modelId="{571F1984-B11D-4700-854A-6D39285C16F4}" type="parTrans" cxnId="{228490C0-3FA3-4149-9C76-236C3E6A7CF4}">
      <dgm:prSet/>
      <dgm:spPr/>
      <dgm:t>
        <a:bodyPr/>
        <a:lstStyle/>
        <a:p>
          <a:endParaRPr lang="en-US"/>
        </a:p>
      </dgm:t>
    </dgm:pt>
    <dgm:pt modelId="{99A5B705-D45E-4653-9C66-736F78089609}" type="sibTrans" cxnId="{228490C0-3FA3-4149-9C76-236C3E6A7CF4}">
      <dgm:prSet/>
      <dgm:spPr/>
      <dgm:t>
        <a:bodyPr/>
        <a:lstStyle/>
        <a:p>
          <a:endParaRPr lang="en-US"/>
        </a:p>
      </dgm:t>
    </dgm:pt>
    <dgm:pt modelId="{4D9CCD5E-B194-4B69-9181-EF81988F85DC}" type="pres">
      <dgm:prSet presAssocID="{D724CC70-919B-4153-B4C1-AA025E05E9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5FC1AB2-A8F2-4312-AD48-4A6B3FA13DB4}" type="pres">
      <dgm:prSet presAssocID="{4EA12983-C286-4DC5-8917-B172CB86187D}" presName="hierRoot1" presStyleCnt="0"/>
      <dgm:spPr/>
    </dgm:pt>
    <dgm:pt modelId="{90ABD7BC-BE97-40B1-81A3-E4B0E730B7F0}" type="pres">
      <dgm:prSet presAssocID="{4EA12983-C286-4DC5-8917-B172CB86187D}" presName="composite" presStyleCnt="0"/>
      <dgm:spPr/>
    </dgm:pt>
    <dgm:pt modelId="{F8188D3C-6B42-4498-B0CC-0C02C0C6C336}" type="pres">
      <dgm:prSet presAssocID="{4EA12983-C286-4DC5-8917-B172CB86187D}" presName="background" presStyleLbl="node0" presStyleIdx="0" presStyleCnt="2"/>
      <dgm:spPr/>
    </dgm:pt>
    <dgm:pt modelId="{48B9FA06-F58E-48B4-8235-F0811F713DB1}" type="pres">
      <dgm:prSet presAssocID="{4EA12983-C286-4DC5-8917-B172CB86187D}" presName="text" presStyleLbl="fgAcc0" presStyleIdx="0" presStyleCnt="2">
        <dgm:presLayoutVars>
          <dgm:chPref val="3"/>
        </dgm:presLayoutVars>
      </dgm:prSet>
      <dgm:spPr/>
    </dgm:pt>
    <dgm:pt modelId="{9F811EE2-02CD-4415-AA62-A590D632CDA7}" type="pres">
      <dgm:prSet presAssocID="{4EA12983-C286-4DC5-8917-B172CB86187D}" presName="hierChild2" presStyleCnt="0"/>
      <dgm:spPr/>
    </dgm:pt>
    <dgm:pt modelId="{B5D2337B-4AA6-4699-A481-D4084163E97F}" type="pres">
      <dgm:prSet presAssocID="{96CEF0EE-CBAC-48B7-B7D8-168E2D9B78F1}" presName="hierRoot1" presStyleCnt="0"/>
      <dgm:spPr/>
    </dgm:pt>
    <dgm:pt modelId="{2923B69C-70BD-47BB-9A8F-4802505EBF3F}" type="pres">
      <dgm:prSet presAssocID="{96CEF0EE-CBAC-48B7-B7D8-168E2D9B78F1}" presName="composite" presStyleCnt="0"/>
      <dgm:spPr/>
    </dgm:pt>
    <dgm:pt modelId="{6F3EC98E-0443-42DD-A826-9F6818DBC408}" type="pres">
      <dgm:prSet presAssocID="{96CEF0EE-CBAC-48B7-B7D8-168E2D9B78F1}" presName="background" presStyleLbl="node0" presStyleIdx="1" presStyleCnt="2"/>
      <dgm:spPr/>
    </dgm:pt>
    <dgm:pt modelId="{F39729ED-B869-4F52-8819-42E7F38FC99E}" type="pres">
      <dgm:prSet presAssocID="{96CEF0EE-CBAC-48B7-B7D8-168E2D9B78F1}" presName="text" presStyleLbl="fgAcc0" presStyleIdx="1" presStyleCnt="2">
        <dgm:presLayoutVars>
          <dgm:chPref val="3"/>
        </dgm:presLayoutVars>
      </dgm:prSet>
      <dgm:spPr/>
    </dgm:pt>
    <dgm:pt modelId="{28D54E6C-E0E3-4DA0-BBF9-3FB3FEBE0564}" type="pres">
      <dgm:prSet presAssocID="{96CEF0EE-CBAC-48B7-B7D8-168E2D9B78F1}" presName="hierChild2" presStyleCnt="0"/>
      <dgm:spPr/>
    </dgm:pt>
  </dgm:ptLst>
  <dgm:cxnLst>
    <dgm:cxn modelId="{CB99E926-7992-49D3-B320-3B3B1E02CABE}" type="presOf" srcId="{96CEF0EE-CBAC-48B7-B7D8-168E2D9B78F1}" destId="{F39729ED-B869-4F52-8819-42E7F38FC99E}" srcOrd="0" destOrd="0" presId="urn:microsoft.com/office/officeart/2005/8/layout/hierarchy1"/>
    <dgm:cxn modelId="{3589324A-636F-40F6-BDBE-4E30722FABBC}" type="presOf" srcId="{4EA12983-C286-4DC5-8917-B172CB86187D}" destId="{48B9FA06-F58E-48B4-8235-F0811F713DB1}" srcOrd="0" destOrd="0" presId="urn:microsoft.com/office/officeart/2005/8/layout/hierarchy1"/>
    <dgm:cxn modelId="{228490C0-3FA3-4149-9C76-236C3E6A7CF4}" srcId="{D724CC70-919B-4153-B4C1-AA025E05E911}" destId="{96CEF0EE-CBAC-48B7-B7D8-168E2D9B78F1}" srcOrd="1" destOrd="0" parTransId="{571F1984-B11D-4700-854A-6D39285C16F4}" sibTransId="{99A5B705-D45E-4653-9C66-736F78089609}"/>
    <dgm:cxn modelId="{497CAADD-5BD9-4D48-94BE-1A590C9F6D4F}" type="presOf" srcId="{D724CC70-919B-4153-B4C1-AA025E05E911}" destId="{4D9CCD5E-B194-4B69-9181-EF81988F85DC}" srcOrd="0" destOrd="0" presId="urn:microsoft.com/office/officeart/2005/8/layout/hierarchy1"/>
    <dgm:cxn modelId="{61D3D8E1-2CBC-4362-A092-CAB33A316890}" srcId="{D724CC70-919B-4153-B4C1-AA025E05E911}" destId="{4EA12983-C286-4DC5-8917-B172CB86187D}" srcOrd="0" destOrd="0" parTransId="{68451451-10F3-477D-8648-62AE38639C5B}" sibTransId="{59057794-232B-465A-A767-8B40B2BD73B9}"/>
    <dgm:cxn modelId="{0545CF31-F5DD-4042-885B-99AA8F24DB4B}" type="presParOf" srcId="{4D9CCD5E-B194-4B69-9181-EF81988F85DC}" destId="{B5FC1AB2-A8F2-4312-AD48-4A6B3FA13DB4}" srcOrd="0" destOrd="0" presId="urn:microsoft.com/office/officeart/2005/8/layout/hierarchy1"/>
    <dgm:cxn modelId="{C7876E1F-0C43-4A57-B2A6-2F3C0CFD4AA8}" type="presParOf" srcId="{B5FC1AB2-A8F2-4312-AD48-4A6B3FA13DB4}" destId="{90ABD7BC-BE97-40B1-81A3-E4B0E730B7F0}" srcOrd="0" destOrd="0" presId="urn:microsoft.com/office/officeart/2005/8/layout/hierarchy1"/>
    <dgm:cxn modelId="{84BEA4DF-667C-45E0-9205-BFA9F8B3DC03}" type="presParOf" srcId="{90ABD7BC-BE97-40B1-81A3-E4B0E730B7F0}" destId="{F8188D3C-6B42-4498-B0CC-0C02C0C6C336}" srcOrd="0" destOrd="0" presId="urn:microsoft.com/office/officeart/2005/8/layout/hierarchy1"/>
    <dgm:cxn modelId="{6B691DD9-3A32-4BD6-9DC8-F0F1A96163EA}" type="presParOf" srcId="{90ABD7BC-BE97-40B1-81A3-E4B0E730B7F0}" destId="{48B9FA06-F58E-48B4-8235-F0811F713DB1}" srcOrd="1" destOrd="0" presId="urn:microsoft.com/office/officeart/2005/8/layout/hierarchy1"/>
    <dgm:cxn modelId="{0140A70A-9092-4DAF-8857-C7C02FA8F96F}" type="presParOf" srcId="{B5FC1AB2-A8F2-4312-AD48-4A6B3FA13DB4}" destId="{9F811EE2-02CD-4415-AA62-A590D632CDA7}" srcOrd="1" destOrd="0" presId="urn:microsoft.com/office/officeart/2005/8/layout/hierarchy1"/>
    <dgm:cxn modelId="{1C986456-9659-462E-818E-AADFF0E009A1}" type="presParOf" srcId="{4D9CCD5E-B194-4B69-9181-EF81988F85DC}" destId="{B5D2337B-4AA6-4699-A481-D4084163E97F}" srcOrd="1" destOrd="0" presId="urn:microsoft.com/office/officeart/2005/8/layout/hierarchy1"/>
    <dgm:cxn modelId="{18915C89-8779-4074-8281-3851970DF040}" type="presParOf" srcId="{B5D2337B-4AA6-4699-A481-D4084163E97F}" destId="{2923B69C-70BD-47BB-9A8F-4802505EBF3F}" srcOrd="0" destOrd="0" presId="urn:microsoft.com/office/officeart/2005/8/layout/hierarchy1"/>
    <dgm:cxn modelId="{476BD5C3-8203-4EF3-B0D4-B9330F373396}" type="presParOf" srcId="{2923B69C-70BD-47BB-9A8F-4802505EBF3F}" destId="{6F3EC98E-0443-42DD-A826-9F6818DBC408}" srcOrd="0" destOrd="0" presId="urn:microsoft.com/office/officeart/2005/8/layout/hierarchy1"/>
    <dgm:cxn modelId="{B7F004EB-8A3E-4579-9D2D-187A900A6648}" type="presParOf" srcId="{2923B69C-70BD-47BB-9A8F-4802505EBF3F}" destId="{F39729ED-B869-4F52-8819-42E7F38FC99E}" srcOrd="1" destOrd="0" presId="urn:microsoft.com/office/officeart/2005/8/layout/hierarchy1"/>
    <dgm:cxn modelId="{99D2E0EE-6F21-4B82-BAB5-F354FDDE995E}" type="presParOf" srcId="{B5D2337B-4AA6-4699-A481-D4084163E97F}" destId="{28D54E6C-E0E3-4DA0-BBF9-3FB3FEBE056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5A0EA-DFAF-42B9-9AB4-D6015D5C109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C573D07-CC14-41B1-88D2-185C02AC317A}">
      <dgm:prSet/>
      <dgm:spPr/>
      <dgm:t>
        <a:bodyPr/>
        <a:lstStyle/>
        <a:p>
          <a:r>
            <a:rPr lang="en-US"/>
            <a:t>- Use clusters for targeted marketing</a:t>
          </a:r>
        </a:p>
      </dgm:t>
    </dgm:pt>
    <dgm:pt modelId="{B4A5CFDD-9051-44C6-8230-95E6532D4F23}" type="parTrans" cxnId="{7EA8C576-EE60-418F-A452-7D23B3836871}">
      <dgm:prSet/>
      <dgm:spPr/>
      <dgm:t>
        <a:bodyPr/>
        <a:lstStyle/>
        <a:p>
          <a:endParaRPr lang="en-US"/>
        </a:p>
      </dgm:t>
    </dgm:pt>
    <dgm:pt modelId="{1158415C-C182-4108-8789-CBBF027C9149}" type="sibTrans" cxnId="{7EA8C576-EE60-418F-A452-7D23B3836871}">
      <dgm:prSet/>
      <dgm:spPr/>
      <dgm:t>
        <a:bodyPr/>
        <a:lstStyle/>
        <a:p>
          <a:endParaRPr lang="en-US"/>
        </a:p>
      </dgm:t>
    </dgm:pt>
    <dgm:pt modelId="{F32699AD-57F0-46E7-B63E-5AD7BB8D3A57}">
      <dgm:prSet/>
      <dgm:spPr/>
      <dgm:t>
        <a:bodyPr/>
        <a:lstStyle/>
        <a:p>
          <a:r>
            <a:rPr lang="en-US"/>
            <a:t>- Use association rules for product bundling</a:t>
          </a:r>
        </a:p>
      </dgm:t>
    </dgm:pt>
    <dgm:pt modelId="{31ED4CF4-03F4-49BA-BEFD-DF5352008685}" type="parTrans" cxnId="{8DD4A633-01A5-4C65-B91F-C7F0791C3A5E}">
      <dgm:prSet/>
      <dgm:spPr/>
      <dgm:t>
        <a:bodyPr/>
        <a:lstStyle/>
        <a:p>
          <a:endParaRPr lang="en-US"/>
        </a:p>
      </dgm:t>
    </dgm:pt>
    <dgm:pt modelId="{33BF6EA8-1338-444F-B59B-7A527FF09F8B}" type="sibTrans" cxnId="{8DD4A633-01A5-4C65-B91F-C7F0791C3A5E}">
      <dgm:prSet/>
      <dgm:spPr/>
      <dgm:t>
        <a:bodyPr/>
        <a:lstStyle/>
        <a:p>
          <a:endParaRPr lang="en-US"/>
        </a:p>
      </dgm:t>
    </dgm:pt>
    <dgm:pt modelId="{A5E71C10-5A1C-4E44-80BD-56C5E8C71717}">
      <dgm:prSet/>
      <dgm:spPr/>
      <dgm:t>
        <a:bodyPr/>
        <a:lstStyle/>
        <a:p>
          <a:r>
            <a:rPr lang="en-US"/>
            <a:t>- Apply regression for demand forecasting</a:t>
          </a:r>
        </a:p>
      </dgm:t>
    </dgm:pt>
    <dgm:pt modelId="{10836925-EF4C-47BC-8C0E-A180E733050F}" type="parTrans" cxnId="{5CA482C3-38D0-40A2-83B0-424C68FC4310}">
      <dgm:prSet/>
      <dgm:spPr/>
      <dgm:t>
        <a:bodyPr/>
        <a:lstStyle/>
        <a:p>
          <a:endParaRPr lang="en-US"/>
        </a:p>
      </dgm:t>
    </dgm:pt>
    <dgm:pt modelId="{A2D11E62-D364-4925-9900-8EC0A6A66EC2}" type="sibTrans" cxnId="{5CA482C3-38D0-40A2-83B0-424C68FC4310}">
      <dgm:prSet/>
      <dgm:spPr/>
      <dgm:t>
        <a:bodyPr/>
        <a:lstStyle/>
        <a:p>
          <a:endParaRPr lang="en-US"/>
        </a:p>
      </dgm:t>
    </dgm:pt>
    <dgm:pt modelId="{6D7E6BE0-1A80-4BF8-923E-CE915B18FF46}">
      <dgm:prSet/>
      <dgm:spPr/>
      <dgm:t>
        <a:bodyPr/>
        <a:lstStyle/>
        <a:p>
          <a:r>
            <a:rPr lang="en-US"/>
            <a:t>- Classification for identifying high-value customers</a:t>
          </a:r>
        </a:p>
      </dgm:t>
    </dgm:pt>
    <dgm:pt modelId="{85845F7F-40ED-4298-96E8-E97E921D1623}" type="parTrans" cxnId="{22F74285-C73A-40F0-AD92-1DB713463F99}">
      <dgm:prSet/>
      <dgm:spPr/>
      <dgm:t>
        <a:bodyPr/>
        <a:lstStyle/>
        <a:p>
          <a:endParaRPr lang="en-US"/>
        </a:p>
      </dgm:t>
    </dgm:pt>
    <dgm:pt modelId="{3A808D13-350E-4914-9143-24F3D6255037}" type="sibTrans" cxnId="{22F74285-C73A-40F0-AD92-1DB713463F99}">
      <dgm:prSet/>
      <dgm:spPr/>
      <dgm:t>
        <a:bodyPr/>
        <a:lstStyle/>
        <a:p>
          <a:endParaRPr lang="en-US"/>
        </a:p>
      </dgm:t>
    </dgm:pt>
    <dgm:pt modelId="{9D6FEBCB-A2BE-4154-AB8E-EDAE5D8E9000}" type="pres">
      <dgm:prSet presAssocID="{3765A0EA-DFAF-42B9-9AB4-D6015D5C1096}" presName="root" presStyleCnt="0">
        <dgm:presLayoutVars>
          <dgm:dir/>
          <dgm:resizeHandles val="exact"/>
        </dgm:presLayoutVars>
      </dgm:prSet>
      <dgm:spPr/>
    </dgm:pt>
    <dgm:pt modelId="{EBBD702A-442B-42D5-9158-8F90507521F7}" type="pres">
      <dgm:prSet presAssocID="{3765A0EA-DFAF-42B9-9AB4-D6015D5C1096}" presName="container" presStyleCnt="0">
        <dgm:presLayoutVars>
          <dgm:dir/>
          <dgm:resizeHandles val="exact"/>
        </dgm:presLayoutVars>
      </dgm:prSet>
      <dgm:spPr/>
    </dgm:pt>
    <dgm:pt modelId="{F3222FBE-94D2-46F2-870F-7D62E43CB27F}" type="pres">
      <dgm:prSet presAssocID="{4C573D07-CC14-41B1-88D2-185C02AC317A}" presName="compNode" presStyleCnt="0"/>
      <dgm:spPr/>
    </dgm:pt>
    <dgm:pt modelId="{80E378B1-5A4B-475E-A83A-5990B20CEAF7}" type="pres">
      <dgm:prSet presAssocID="{4C573D07-CC14-41B1-88D2-185C02AC317A}" presName="iconBgRect" presStyleLbl="bgShp" presStyleIdx="0" presStyleCnt="4"/>
      <dgm:spPr/>
    </dgm:pt>
    <dgm:pt modelId="{CE8DEF4C-F91D-4C7C-9EF7-10C49C38D012}" type="pres">
      <dgm:prSet presAssocID="{4C573D07-CC14-41B1-88D2-185C02AC317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27FDBDE-658B-4BC5-89FE-42760A1DD095}" type="pres">
      <dgm:prSet presAssocID="{4C573D07-CC14-41B1-88D2-185C02AC317A}" presName="spaceRect" presStyleCnt="0"/>
      <dgm:spPr/>
    </dgm:pt>
    <dgm:pt modelId="{30EC9B72-6DDA-41AF-BE93-548316FDAF94}" type="pres">
      <dgm:prSet presAssocID="{4C573D07-CC14-41B1-88D2-185C02AC317A}" presName="textRect" presStyleLbl="revTx" presStyleIdx="0" presStyleCnt="4">
        <dgm:presLayoutVars>
          <dgm:chMax val="1"/>
          <dgm:chPref val="1"/>
        </dgm:presLayoutVars>
      </dgm:prSet>
      <dgm:spPr/>
    </dgm:pt>
    <dgm:pt modelId="{DD85219B-27F8-41A6-B6B9-79FC177AE5DC}" type="pres">
      <dgm:prSet presAssocID="{1158415C-C182-4108-8789-CBBF027C9149}" presName="sibTrans" presStyleLbl="sibTrans2D1" presStyleIdx="0" presStyleCnt="0"/>
      <dgm:spPr/>
    </dgm:pt>
    <dgm:pt modelId="{653DDC2F-31A4-41B5-BD87-FADC1AEB62D7}" type="pres">
      <dgm:prSet presAssocID="{F32699AD-57F0-46E7-B63E-5AD7BB8D3A57}" presName="compNode" presStyleCnt="0"/>
      <dgm:spPr/>
    </dgm:pt>
    <dgm:pt modelId="{1EA347C6-0640-4BAB-BB06-543DFD870878}" type="pres">
      <dgm:prSet presAssocID="{F32699AD-57F0-46E7-B63E-5AD7BB8D3A57}" presName="iconBgRect" presStyleLbl="bgShp" presStyleIdx="1" presStyleCnt="4"/>
      <dgm:spPr/>
    </dgm:pt>
    <dgm:pt modelId="{7E9EABF4-3D58-4A7A-A51E-7ADE52DADB3A}" type="pres">
      <dgm:prSet presAssocID="{F32699AD-57F0-46E7-B63E-5AD7BB8D3A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6E03AD67-E6A1-40B1-B13C-8EFFE55D12EB}" type="pres">
      <dgm:prSet presAssocID="{F32699AD-57F0-46E7-B63E-5AD7BB8D3A57}" presName="spaceRect" presStyleCnt="0"/>
      <dgm:spPr/>
    </dgm:pt>
    <dgm:pt modelId="{44EF0725-5A2F-4030-B544-DED0B46D8A4F}" type="pres">
      <dgm:prSet presAssocID="{F32699AD-57F0-46E7-B63E-5AD7BB8D3A57}" presName="textRect" presStyleLbl="revTx" presStyleIdx="1" presStyleCnt="4">
        <dgm:presLayoutVars>
          <dgm:chMax val="1"/>
          <dgm:chPref val="1"/>
        </dgm:presLayoutVars>
      </dgm:prSet>
      <dgm:spPr/>
    </dgm:pt>
    <dgm:pt modelId="{85CFFA0A-2A5E-4AE9-BFAE-C9EC1A1D1C6E}" type="pres">
      <dgm:prSet presAssocID="{33BF6EA8-1338-444F-B59B-7A527FF09F8B}" presName="sibTrans" presStyleLbl="sibTrans2D1" presStyleIdx="0" presStyleCnt="0"/>
      <dgm:spPr/>
    </dgm:pt>
    <dgm:pt modelId="{120E1E8C-E09D-46EA-B0F4-005C31025175}" type="pres">
      <dgm:prSet presAssocID="{A5E71C10-5A1C-4E44-80BD-56C5E8C71717}" presName="compNode" presStyleCnt="0"/>
      <dgm:spPr/>
    </dgm:pt>
    <dgm:pt modelId="{3B363E39-DCFC-41B3-B1C1-0F5EB79A2B10}" type="pres">
      <dgm:prSet presAssocID="{A5E71C10-5A1C-4E44-80BD-56C5E8C71717}" presName="iconBgRect" presStyleLbl="bgShp" presStyleIdx="2" presStyleCnt="4"/>
      <dgm:spPr/>
    </dgm:pt>
    <dgm:pt modelId="{45031BA7-7CFE-4293-B3A9-EDBB4D75B5F3}" type="pres">
      <dgm:prSet presAssocID="{A5E71C10-5A1C-4E44-80BD-56C5E8C717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3B2CE4B-3DDA-4064-A460-509BAF77492D}" type="pres">
      <dgm:prSet presAssocID="{A5E71C10-5A1C-4E44-80BD-56C5E8C71717}" presName="spaceRect" presStyleCnt="0"/>
      <dgm:spPr/>
    </dgm:pt>
    <dgm:pt modelId="{EB303084-D0E3-4980-8E8F-5BB5C2F91292}" type="pres">
      <dgm:prSet presAssocID="{A5E71C10-5A1C-4E44-80BD-56C5E8C71717}" presName="textRect" presStyleLbl="revTx" presStyleIdx="2" presStyleCnt="4">
        <dgm:presLayoutVars>
          <dgm:chMax val="1"/>
          <dgm:chPref val="1"/>
        </dgm:presLayoutVars>
      </dgm:prSet>
      <dgm:spPr/>
    </dgm:pt>
    <dgm:pt modelId="{E9E842DB-6E82-4CB0-8A38-9B04DDB38019}" type="pres">
      <dgm:prSet presAssocID="{A2D11E62-D364-4925-9900-8EC0A6A66EC2}" presName="sibTrans" presStyleLbl="sibTrans2D1" presStyleIdx="0" presStyleCnt="0"/>
      <dgm:spPr/>
    </dgm:pt>
    <dgm:pt modelId="{D232433D-9705-4B99-88D5-57C852EF1871}" type="pres">
      <dgm:prSet presAssocID="{6D7E6BE0-1A80-4BF8-923E-CE915B18FF46}" presName="compNode" presStyleCnt="0"/>
      <dgm:spPr/>
    </dgm:pt>
    <dgm:pt modelId="{9F180420-B010-4477-80F7-7A8C07193ABD}" type="pres">
      <dgm:prSet presAssocID="{6D7E6BE0-1A80-4BF8-923E-CE915B18FF46}" presName="iconBgRect" presStyleLbl="bgShp" presStyleIdx="3" presStyleCnt="4"/>
      <dgm:spPr/>
    </dgm:pt>
    <dgm:pt modelId="{12B240E7-8B01-4CED-9C7A-2AE89AD46929}" type="pres">
      <dgm:prSet presAssocID="{6D7E6BE0-1A80-4BF8-923E-CE915B18FF4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B5244E0-3834-41AE-8C49-6DB66056C75F}" type="pres">
      <dgm:prSet presAssocID="{6D7E6BE0-1A80-4BF8-923E-CE915B18FF46}" presName="spaceRect" presStyleCnt="0"/>
      <dgm:spPr/>
    </dgm:pt>
    <dgm:pt modelId="{54F695CA-CC6F-4CA8-9C10-72D5D5B0F553}" type="pres">
      <dgm:prSet presAssocID="{6D7E6BE0-1A80-4BF8-923E-CE915B18FF4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5BC5C13-C990-406E-AB52-DA3943065EFC}" type="presOf" srcId="{A5E71C10-5A1C-4E44-80BD-56C5E8C71717}" destId="{EB303084-D0E3-4980-8E8F-5BB5C2F91292}" srcOrd="0" destOrd="0" presId="urn:microsoft.com/office/officeart/2018/2/layout/IconCircleList"/>
    <dgm:cxn modelId="{8DD4A633-01A5-4C65-B91F-C7F0791C3A5E}" srcId="{3765A0EA-DFAF-42B9-9AB4-D6015D5C1096}" destId="{F32699AD-57F0-46E7-B63E-5AD7BB8D3A57}" srcOrd="1" destOrd="0" parTransId="{31ED4CF4-03F4-49BA-BEFD-DF5352008685}" sibTransId="{33BF6EA8-1338-444F-B59B-7A527FF09F8B}"/>
    <dgm:cxn modelId="{DABEA367-2C8F-491F-86F6-E56B8F33C653}" type="presOf" srcId="{3765A0EA-DFAF-42B9-9AB4-D6015D5C1096}" destId="{9D6FEBCB-A2BE-4154-AB8E-EDAE5D8E9000}" srcOrd="0" destOrd="0" presId="urn:microsoft.com/office/officeart/2018/2/layout/IconCircleList"/>
    <dgm:cxn modelId="{7EA8C576-EE60-418F-A452-7D23B3836871}" srcId="{3765A0EA-DFAF-42B9-9AB4-D6015D5C1096}" destId="{4C573D07-CC14-41B1-88D2-185C02AC317A}" srcOrd="0" destOrd="0" parTransId="{B4A5CFDD-9051-44C6-8230-95E6532D4F23}" sibTransId="{1158415C-C182-4108-8789-CBBF027C9149}"/>
    <dgm:cxn modelId="{24919880-809D-4DE5-916D-53DAE708E4F4}" type="presOf" srcId="{A2D11E62-D364-4925-9900-8EC0A6A66EC2}" destId="{E9E842DB-6E82-4CB0-8A38-9B04DDB38019}" srcOrd="0" destOrd="0" presId="urn:microsoft.com/office/officeart/2018/2/layout/IconCircleList"/>
    <dgm:cxn modelId="{22F74285-C73A-40F0-AD92-1DB713463F99}" srcId="{3765A0EA-DFAF-42B9-9AB4-D6015D5C1096}" destId="{6D7E6BE0-1A80-4BF8-923E-CE915B18FF46}" srcOrd="3" destOrd="0" parTransId="{85845F7F-40ED-4298-96E8-E97E921D1623}" sibTransId="{3A808D13-350E-4914-9143-24F3D6255037}"/>
    <dgm:cxn modelId="{A8673B90-CC77-4A6A-BAD8-5DB544E6878E}" type="presOf" srcId="{1158415C-C182-4108-8789-CBBF027C9149}" destId="{DD85219B-27F8-41A6-B6B9-79FC177AE5DC}" srcOrd="0" destOrd="0" presId="urn:microsoft.com/office/officeart/2018/2/layout/IconCircleList"/>
    <dgm:cxn modelId="{71E1EDAA-546D-421A-91B8-38E20CEF0147}" type="presOf" srcId="{6D7E6BE0-1A80-4BF8-923E-CE915B18FF46}" destId="{54F695CA-CC6F-4CA8-9C10-72D5D5B0F553}" srcOrd="0" destOrd="0" presId="urn:microsoft.com/office/officeart/2018/2/layout/IconCircleList"/>
    <dgm:cxn modelId="{5CA482C3-38D0-40A2-83B0-424C68FC4310}" srcId="{3765A0EA-DFAF-42B9-9AB4-D6015D5C1096}" destId="{A5E71C10-5A1C-4E44-80BD-56C5E8C71717}" srcOrd="2" destOrd="0" parTransId="{10836925-EF4C-47BC-8C0E-A180E733050F}" sibTransId="{A2D11E62-D364-4925-9900-8EC0A6A66EC2}"/>
    <dgm:cxn modelId="{509DFDE0-97E4-47FB-9C13-B2424528BABB}" type="presOf" srcId="{33BF6EA8-1338-444F-B59B-7A527FF09F8B}" destId="{85CFFA0A-2A5E-4AE9-BFAE-C9EC1A1D1C6E}" srcOrd="0" destOrd="0" presId="urn:microsoft.com/office/officeart/2018/2/layout/IconCircleList"/>
    <dgm:cxn modelId="{2FE70CF2-8CBD-4DC2-BAC5-95AC26E8CC32}" type="presOf" srcId="{4C573D07-CC14-41B1-88D2-185C02AC317A}" destId="{30EC9B72-6DDA-41AF-BE93-548316FDAF94}" srcOrd="0" destOrd="0" presId="urn:microsoft.com/office/officeart/2018/2/layout/IconCircleList"/>
    <dgm:cxn modelId="{1E59E0F2-C1AA-4E06-A258-D1A70B3866C5}" type="presOf" srcId="{F32699AD-57F0-46E7-B63E-5AD7BB8D3A57}" destId="{44EF0725-5A2F-4030-B544-DED0B46D8A4F}" srcOrd="0" destOrd="0" presId="urn:microsoft.com/office/officeart/2018/2/layout/IconCircleList"/>
    <dgm:cxn modelId="{40FAC94D-0B9C-47A7-93F8-3868F385EEFF}" type="presParOf" srcId="{9D6FEBCB-A2BE-4154-AB8E-EDAE5D8E9000}" destId="{EBBD702A-442B-42D5-9158-8F90507521F7}" srcOrd="0" destOrd="0" presId="urn:microsoft.com/office/officeart/2018/2/layout/IconCircleList"/>
    <dgm:cxn modelId="{4D5F9622-B47E-4267-9238-123F0B92500B}" type="presParOf" srcId="{EBBD702A-442B-42D5-9158-8F90507521F7}" destId="{F3222FBE-94D2-46F2-870F-7D62E43CB27F}" srcOrd="0" destOrd="0" presId="urn:microsoft.com/office/officeart/2018/2/layout/IconCircleList"/>
    <dgm:cxn modelId="{1F369678-B435-43B6-B8D4-8129F4E32621}" type="presParOf" srcId="{F3222FBE-94D2-46F2-870F-7D62E43CB27F}" destId="{80E378B1-5A4B-475E-A83A-5990B20CEAF7}" srcOrd="0" destOrd="0" presId="urn:microsoft.com/office/officeart/2018/2/layout/IconCircleList"/>
    <dgm:cxn modelId="{A57BD07A-C6B0-4C0E-86FF-A9A6CBF4C09F}" type="presParOf" srcId="{F3222FBE-94D2-46F2-870F-7D62E43CB27F}" destId="{CE8DEF4C-F91D-4C7C-9EF7-10C49C38D012}" srcOrd="1" destOrd="0" presId="urn:microsoft.com/office/officeart/2018/2/layout/IconCircleList"/>
    <dgm:cxn modelId="{98D2E4E5-3980-4367-9D63-4BCF250A25D0}" type="presParOf" srcId="{F3222FBE-94D2-46F2-870F-7D62E43CB27F}" destId="{627FDBDE-658B-4BC5-89FE-42760A1DD095}" srcOrd="2" destOrd="0" presId="urn:microsoft.com/office/officeart/2018/2/layout/IconCircleList"/>
    <dgm:cxn modelId="{0ED046AF-2309-47FE-AFEE-FB79686EFEC2}" type="presParOf" srcId="{F3222FBE-94D2-46F2-870F-7D62E43CB27F}" destId="{30EC9B72-6DDA-41AF-BE93-548316FDAF94}" srcOrd="3" destOrd="0" presId="urn:microsoft.com/office/officeart/2018/2/layout/IconCircleList"/>
    <dgm:cxn modelId="{75D9E9C1-49BD-47C1-8EFE-463D050D4547}" type="presParOf" srcId="{EBBD702A-442B-42D5-9158-8F90507521F7}" destId="{DD85219B-27F8-41A6-B6B9-79FC177AE5DC}" srcOrd="1" destOrd="0" presId="urn:microsoft.com/office/officeart/2018/2/layout/IconCircleList"/>
    <dgm:cxn modelId="{E1E848B8-14A0-4B2B-833D-1648AD6358DB}" type="presParOf" srcId="{EBBD702A-442B-42D5-9158-8F90507521F7}" destId="{653DDC2F-31A4-41B5-BD87-FADC1AEB62D7}" srcOrd="2" destOrd="0" presId="urn:microsoft.com/office/officeart/2018/2/layout/IconCircleList"/>
    <dgm:cxn modelId="{540239BA-1C83-4A79-B7B0-5A23D5816511}" type="presParOf" srcId="{653DDC2F-31A4-41B5-BD87-FADC1AEB62D7}" destId="{1EA347C6-0640-4BAB-BB06-543DFD870878}" srcOrd="0" destOrd="0" presId="urn:microsoft.com/office/officeart/2018/2/layout/IconCircleList"/>
    <dgm:cxn modelId="{4700A025-B3DB-4E56-9054-89EC4BF2524D}" type="presParOf" srcId="{653DDC2F-31A4-41B5-BD87-FADC1AEB62D7}" destId="{7E9EABF4-3D58-4A7A-A51E-7ADE52DADB3A}" srcOrd="1" destOrd="0" presId="urn:microsoft.com/office/officeart/2018/2/layout/IconCircleList"/>
    <dgm:cxn modelId="{5CD52B78-8FB7-4473-BF14-F738F7F3E7A9}" type="presParOf" srcId="{653DDC2F-31A4-41B5-BD87-FADC1AEB62D7}" destId="{6E03AD67-E6A1-40B1-B13C-8EFFE55D12EB}" srcOrd="2" destOrd="0" presId="urn:microsoft.com/office/officeart/2018/2/layout/IconCircleList"/>
    <dgm:cxn modelId="{7DFA88BF-794E-49D0-A0B2-CF0DE461C7C4}" type="presParOf" srcId="{653DDC2F-31A4-41B5-BD87-FADC1AEB62D7}" destId="{44EF0725-5A2F-4030-B544-DED0B46D8A4F}" srcOrd="3" destOrd="0" presId="urn:microsoft.com/office/officeart/2018/2/layout/IconCircleList"/>
    <dgm:cxn modelId="{A8F9DF9E-78C8-4C79-96BC-556EAB990527}" type="presParOf" srcId="{EBBD702A-442B-42D5-9158-8F90507521F7}" destId="{85CFFA0A-2A5E-4AE9-BFAE-C9EC1A1D1C6E}" srcOrd="3" destOrd="0" presId="urn:microsoft.com/office/officeart/2018/2/layout/IconCircleList"/>
    <dgm:cxn modelId="{1E0D5B17-D287-4FC6-9416-3165569F43FF}" type="presParOf" srcId="{EBBD702A-442B-42D5-9158-8F90507521F7}" destId="{120E1E8C-E09D-46EA-B0F4-005C31025175}" srcOrd="4" destOrd="0" presId="urn:microsoft.com/office/officeart/2018/2/layout/IconCircleList"/>
    <dgm:cxn modelId="{50A7EADE-863B-4032-BDCD-83F1B22F22E9}" type="presParOf" srcId="{120E1E8C-E09D-46EA-B0F4-005C31025175}" destId="{3B363E39-DCFC-41B3-B1C1-0F5EB79A2B10}" srcOrd="0" destOrd="0" presId="urn:microsoft.com/office/officeart/2018/2/layout/IconCircleList"/>
    <dgm:cxn modelId="{27031240-C470-4759-A72E-E7645D9799A3}" type="presParOf" srcId="{120E1E8C-E09D-46EA-B0F4-005C31025175}" destId="{45031BA7-7CFE-4293-B3A9-EDBB4D75B5F3}" srcOrd="1" destOrd="0" presId="urn:microsoft.com/office/officeart/2018/2/layout/IconCircleList"/>
    <dgm:cxn modelId="{524557DC-D7B6-4655-96BD-2E308049023D}" type="presParOf" srcId="{120E1E8C-E09D-46EA-B0F4-005C31025175}" destId="{53B2CE4B-3DDA-4064-A460-509BAF77492D}" srcOrd="2" destOrd="0" presId="urn:microsoft.com/office/officeart/2018/2/layout/IconCircleList"/>
    <dgm:cxn modelId="{1DA638AF-77B1-4A55-8638-6518D766930D}" type="presParOf" srcId="{120E1E8C-E09D-46EA-B0F4-005C31025175}" destId="{EB303084-D0E3-4980-8E8F-5BB5C2F91292}" srcOrd="3" destOrd="0" presId="urn:microsoft.com/office/officeart/2018/2/layout/IconCircleList"/>
    <dgm:cxn modelId="{A348695A-FE74-4A89-B1CB-57679CB37F80}" type="presParOf" srcId="{EBBD702A-442B-42D5-9158-8F90507521F7}" destId="{E9E842DB-6E82-4CB0-8A38-9B04DDB38019}" srcOrd="5" destOrd="0" presId="urn:microsoft.com/office/officeart/2018/2/layout/IconCircleList"/>
    <dgm:cxn modelId="{0724EAA0-5783-47B9-B6D9-DDCDCAF4EF06}" type="presParOf" srcId="{EBBD702A-442B-42D5-9158-8F90507521F7}" destId="{D232433D-9705-4B99-88D5-57C852EF1871}" srcOrd="6" destOrd="0" presId="urn:microsoft.com/office/officeart/2018/2/layout/IconCircleList"/>
    <dgm:cxn modelId="{6D8468A3-6747-422C-A0C4-794013C740D0}" type="presParOf" srcId="{D232433D-9705-4B99-88D5-57C852EF1871}" destId="{9F180420-B010-4477-80F7-7A8C07193ABD}" srcOrd="0" destOrd="0" presId="urn:microsoft.com/office/officeart/2018/2/layout/IconCircleList"/>
    <dgm:cxn modelId="{4C7D8060-F0CF-4D0E-BC6B-D83EB5301E6A}" type="presParOf" srcId="{D232433D-9705-4B99-88D5-57C852EF1871}" destId="{12B240E7-8B01-4CED-9C7A-2AE89AD46929}" srcOrd="1" destOrd="0" presId="urn:microsoft.com/office/officeart/2018/2/layout/IconCircleList"/>
    <dgm:cxn modelId="{43FB56A8-FE91-4F1C-BC0F-55D1E66A10B5}" type="presParOf" srcId="{D232433D-9705-4B99-88D5-57C852EF1871}" destId="{1B5244E0-3834-41AE-8C49-6DB66056C75F}" srcOrd="2" destOrd="0" presId="urn:microsoft.com/office/officeart/2018/2/layout/IconCircleList"/>
    <dgm:cxn modelId="{CC7CA855-A782-4F98-AB9A-FC61C367D515}" type="presParOf" srcId="{D232433D-9705-4B99-88D5-57C852EF1871}" destId="{54F695CA-CC6F-4CA8-9C10-72D5D5B0F55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88D3C-6B42-4498-B0CC-0C02C0C6C336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9FA06-F58E-48B4-8235-F0811F713DB1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Online Retail I dataset (2010–2011). Includes invoice, product, quantity, price, and customer data.</a:t>
          </a:r>
        </a:p>
      </dsp:txBody>
      <dsp:txXfrm>
        <a:off x="433546" y="784100"/>
        <a:ext cx="3211056" cy="1993740"/>
      </dsp:txXfrm>
    </dsp:sp>
    <dsp:sp modelId="{6F3EC98E-0443-42DD-A826-9F6818DBC408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729ED-B869-4F52-8819-42E7F38FC99E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Chosen for its suitability for all data mining tasks.</a:t>
          </a:r>
        </a:p>
      </dsp:txBody>
      <dsp:txXfrm>
        <a:off x="4509795" y="784100"/>
        <a:ext cx="3211056" cy="19937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378B1-5A4B-475E-A83A-5990B20CEAF7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DEF4C-F91D-4C7C-9EF7-10C49C38D012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C9B72-6DDA-41AF-BE93-548316FDAF94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Use clusters for targeted marketing</a:t>
          </a:r>
        </a:p>
      </dsp:txBody>
      <dsp:txXfrm>
        <a:off x="1330115" y="659889"/>
        <a:ext cx="2546008" cy="1080124"/>
      </dsp:txXfrm>
    </dsp:sp>
    <dsp:sp modelId="{1EA347C6-0640-4BAB-BB06-543DFD870878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9EABF4-3D58-4A7A-A51E-7ADE52DADB3A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F0725-5A2F-4030-B544-DED0B46D8A4F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Use association rules for product bundling</a:t>
          </a:r>
        </a:p>
      </dsp:txBody>
      <dsp:txXfrm>
        <a:off x="5631327" y="659889"/>
        <a:ext cx="2546008" cy="1080124"/>
      </dsp:txXfrm>
    </dsp:sp>
    <dsp:sp modelId="{3B363E39-DCFC-41B3-B1C1-0F5EB79A2B10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31BA7-7CFE-4293-B3A9-EDBB4D75B5F3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03084-D0E3-4980-8E8F-5BB5C2F91292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Apply regression for demand forecasting</a:t>
          </a:r>
        </a:p>
      </dsp:txBody>
      <dsp:txXfrm>
        <a:off x="1330115" y="2452790"/>
        <a:ext cx="2546008" cy="1080124"/>
      </dsp:txXfrm>
    </dsp:sp>
    <dsp:sp modelId="{9F180420-B010-4477-80F7-7A8C07193ABD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B240E7-8B01-4CED-9C7A-2AE89AD46929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695CA-CC6F-4CA8-9C10-72D5D5B0F553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Classification for identifying high-value customers</a:t>
          </a:r>
        </a:p>
      </dsp:txBody>
      <dsp:txXfrm>
        <a:off x="5631327" y="2452790"/>
        <a:ext cx="2546008" cy="1080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5372A-103A-4A90-BEE7-6EB711428359}" type="datetimeFigureOut"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1287F-B93D-4892-9BA1-E37DFC486D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2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my final project presentation for MSCS 634. I will walk through the dataset, methods, models, and insights gained.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integrates preprocessing, EDA, feature engineering, regression, classification, clustering, and association rule mining.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Online Retail I dataset was chosen because it supports many data mining tasks: forecasting, segmentation, classification, and pattern mining.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 explain how we cleaned the dataset by removing cancellations, filtering negative values, and creating new variables like TotalPrice.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highlights key exploratory insights including outliers, sales trends, and high-volume customers or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RidgeCV was used for regression because it handles multicollinearity well. The model showed how features predict customer 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Decision Tree classifier is easy to interpret and reveals important decision rules used for classifying customer behaviors.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KNN captures local structure in the data. The sampled dataset allowed faster computation while maintaining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K-Means clustering grouped customers by behavior, helping identify marketing segments and actionable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Apriori helped identify frequent product combinations. Lift and confidence values guide cross-selling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Ethical considerations include privacy, fairness, avoiding discriminatory modeling, and maintaining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Recommendations include targeted marketing, product bundling improvements, and using models for forecasting and customer identification.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this project demonstrates a full data mining workflow leading to insights useful for decision-making and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Final Project – MSCS 634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Bhawesh Shrestha</a:t>
            </a:r>
          </a:p>
          <a:p>
            <a:r>
              <a:rPr lang="en-US" sz="1700"/>
              <a:t>University of the Cumberlands</a:t>
            </a:r>
          </a:p>
        </p:txBody>
      </p:sp>
      <p:pic>
        <p:nvPicPr>
          <p:cNvPr id="5" name="Picture 4" descr="Outdoor warehouse">
            <a:extLst>
              <a:ext uri="{FF2B5EF4-FFF2-40B4-BE49-F238E27FC236}">
                <a16:creationId xmlns:a16="http://schemas.microsoft.com/office/drawing/2014/main" id="{108B7323-8303-DCA8-2C99-EBF4CCB7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76" r="31874" b="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Overview of project integrating preprocessing, EDA, feature engineering, regression, classification, clustering, and association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Dataset Description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66E725-5B08-0A80-4F4B-0C00771F9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8884261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Removed cancelled transactions, filtered negative quantities, cleaned CustomerID, and created TotalPrice.</a:t>
            </a:r>
          </a:p>
          <a:p>
            <a:r>
              <a:rPr lang="en-US" sz="1700"/>
              <a:t>Scaled numeric features for modeling.</a:t>
            </a:r>
          </a:p>
        </p:txBody>
      </p:sp>
      <p:pic>
        <p:nvPicPr>
          <p:cNvPr id="5" name="Picture 4" descr="Stock exchange numbers">
            <a:extLst>
              <a:ext uri="{FF2B5EF4-FFF2-40B4-BE49-F238E27FC236}">
                <a16:creationId xmlns:a16="http://schemas.microsoft.com/office/drawing/2014/main" id="{97978F77-C2D1-4202-3FCF-7036EF5060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059" r="16456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574747" cy="1454051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Key 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3"/>
            <a:ext cx="3563310" cy="421211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Clear presence of outliers in </a:t>
            </a:r>
            <a:r>
              <a:rPr lang="en-US" sz="1600" b="1" dirty="0">
                <a:solidFill>
                  <a:schemeClr val="tx2"/>
                </a:solidFill>
                <a:ea typeface="+mn-lt"/>
                <a:cs typeface="+mn-lt"/>
              </a:rPr>
              <a:t>Quantity</a:t>
            </a:r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 and </a:t>
            </a:r>
            <a:r>
              <a:rPr lang="en-US" sz="1600" b="1" dirty="0">
                <a:solidFill>
                  <a:schemeClr val="tx2"/>
                </a:solidFill>
                <a:ea typeface="+mn-lt"/>
                <a:cs typeface="+mn-lt"/>
              </a:rPr>
              <a:t>UnitPrice</a:t>
            </a:r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, indicating unusual or high-volume purchases.</a:t>
            </a:r>
            <a:endParaRPr lang="en-US" sz="1600" dirty="0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Most transactions involve </a:t>
            </a:r>
            <a:r>
              <a:rPr lang="en-US" sz="1600" b="1" dirty="0">
                <a:solidFill>
                  <a:schemeClr val="tx2"/>
                </a:solidFill>
                <a:ea typeface="+mn-lt"/>
                <a:cs typeface="+mn-lt"/>
              </a:rPr>
              <a:t>low-priced items purchased in small quantities</a:t>
            </a:r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, as shown by dense clustering near the origin.</a:t>
            </a:r>
            <a:endParaRPr lang="en-US" dirty="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chemeClr val="tx2"/>
                </a:solidFill>
                <a:ea typeface="+mn-lt"/>
                <a:cs typeface="+mn-lt"/>
              </a:rPr>
              <a:t>A few extreme points represent </a:t>
            </a:r>
            <a:r>
              <a:rPr lang="en-US" sz="1600" b="1">
                <a:solidFill>
                  <a:schemeClr val="tx2"/>
                </a:solidFill>
                <a:ea typeface="+mn-lt"/>
                <a:cs typeface="+mn-lt"/>
              </a:rPr>
              <a:t>high-quantity or high-unit-price outliers</a:t>
            </a:r>
            <a:r>
              <a:rPr lang="en-US" sz="1600">
                <a:solidFill>
                  <a:schemeClr val="tx2"/>
                </a:solidFill>
                <a:ea typeface="+mn-lt"/>
                <a:cs typeface="+mn-lt"/>
              </a:rPr>
              <a:t>, which required preprocessing.</a:t>
            </a:r>
            <a:endParaRPr lang="en-US"/>
          </a:p>
          <a:p>
            <a:r>
              <a:rPr lang="en-US" sz="1600">
                <a:solidFill>
                  <a:schemeClr val="tx2"/>
                </a:solidFill>
                <a:ea typeface="+mn-lt"/>
                <a:cs typeface="+mn-lt"/>
              </a:rPr>
              <a:t>EDA helped uncover customer purchasing patterns and guided decisions for scaling and feature engineering.</a:t>
            </a:r>
            <a:endParaRPr lang="en-US"/>
          </a:p>
          <a:p>
            <a:r>
              <a:rPr lang="en-US" sz="1600">
                <a:solidFill>
                  <a:schemeClr val="tx2"/>
                </a:solidFill>
                <a:ea typeface="+mn-lt"/>
                <a:cs typeface="+mn-lt"/>
              </a:rPr>
              <a:t>These insights improved downstream models such as RidgeCV, Decision Tree, and K-Means.</a:t>
            </a:r>
            <a:endParaRPr lang="en-US"/>
          </a:p>
          <a:p>
            <a:endParaRPr lang="en-US" sz="1600" dirty="0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 dirty="0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>
              <a:solidFill>
                <a:schemeClr val="tx2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>
              <a:solidFill>
                <a:schemeClr val="tx2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9C3BEE92-7FC4-F397-285A-4A0B7A7BF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331" y="2193359"/>
            <a:ext cx="3686175" cy="29173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r>
              <a:rPr lang="en-US"/>
              <a:t>Regression Model – RidgeCV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775" y="2198362"/>
            <a:ext cx="3730376" cy="463145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700" err="1">
                <a:ea typeface="+mn-lt"/>
                <a:cs typeface="+mn-lt"/>
              </a:rPr>
              <a:t>RidgeCV</a:t>
            </a:r>
            <a:r>
              <a:rPr lang="en-US" sz="1700">
                <a:ea typeface="+mn-lt"/>
                <a:cs typeface="+mn-lt"/>
              </a:rPr>
              <a:t> selected to address multicollinearity among features and improve model stability.</a:t>
            </a:r>
            <a:endParaRPr lang="en-US" sz="1700" dirty="0">
              <a:ea typeface="Calibri"/>
              <a:cs typeface="Calibri"/>
            </a:endParaRPr>
          </a:p>
          <a:p>
            <a:r>
              <a:rPr lang="en-US" sz="1700">
                <a:ea typeface="+mn-lt"/>
                <a:cs typeface="+mn-lt"/>
              </a:rPr>
              <a:t>Automatically tunes the regularization strength using cross-validation, ensuring optimal performance.</a:t>
            </a:r>
            <a:endParaRPr lang="en-US"/>
          </a:p>
          <a:p>
            <a:r>
              <a:rPr lang="en-US" sz="1700">
                <a:ea typeface="+mn-lt"/>
                <a:cs typeface="+mn-lt"/>
              </a:rPr>
              <a:t>Evaluated using RMSE and R², which measure prediction error and the proportion of variance explained.</a:t>
            </a:r>
            <a:endParaRPr lang="en-US"/>
          </a:p>
          <a:p>
            <a:r>
              <a:rPr lang="en-US" sz="1700">
                <a:ea typeface="+mn-lt"/>
                <a:cs typeface="+mn-lt"/>
              </a:rPr>
              <a:t>Actual vs Predicted plot helps assess how closely model predictions align with real values.</a:t>
            </a:r>
            <a:endParaRPr lang="en-US"/>
          </a:p>
          <a:p>
            <a:r>
              <a:rPr lang="en-US" sz="1700">
                <a:ea typeface="+mn-lt"/>
                <a:cs typeface="+mn-lt"/>
              </a:rPr>
              <a:t>Points near the diagonal line indicate strong predictive accuracy and low residual error.</a:t>
            </a:r>
            <a:endParaRPr lang="en-US"/>
          </a:p>
          <a:p>
            <a:r>
              <a:rPr lang="en-US" sz="1700" dirty="0">
                <a:ea typeface="+mn-lt"/>
                <a:cs typeface="+mn-lt"/>
              </a:rPr>
              <a:t>Demonstrates that engineered features (such as TotalPrice and date-based variables) effectively explain customer spending behavior.</a:t>
            </a:r>
            <a:endParaRPr lang="en-US" dirty="0"/>
          </a:p>
          <a:p>
            <a:endParaRPr lang="en-US" sz="1700" dirty="0">
              <a:ea typeface="Calibri"/>
              <a:cs typeface="Calibri"/>
            </a:endParaRPr>
          </a:p>
          <a:p>
            <a:endParaRPr lang="en-US" sz="1700" dirty="0">
              <a:ea typeface="Calibri"/>
              <a:cs typeface="Calibri"/>
            </a:endParaRPr>
          </a:p>
        </p:txBody>
      </p:sp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EB84747A-B80D-8A36-A032-31C1BB9AD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525" y="2716104"/>
            <a:ext cx="3591379" cy="2693533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US" sz="2400"/>
              <a:t>Classification – Decision Tree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500" dirty="0">
                <a:ea typeface="+mn-lt"/>
                <a:cs typeface="+mn-lt"/>
              </a:rPr>
              <a:t>Decision Tree model trained on a sampled subset of the dataset.</a:t>
            </a:r>
            <a:endParaRPr lang="en-US" sz="1500" dirty="0">
              <a:ea typeface="Calibri"/>
              <a:cs typeface="Calibri"/>
            </a:endParaRPr>
          </a:p>
          <a:p>
            <a:r>
              <a:rPr lang="en-US" sz="1500" dirty="0">
                <a:ea typeface="+mn-lt"/>
                <a:cs typeface="+mn-lt"/>
              </a:rPr>
              <a:t>Evaluated using </a:t>
            </a:r>
            <a:r>
              <a:rPr lang="en-US" sz="1500" b="1" dirty="0">
                <a:ea typeface="+mn-lt"/>
                <a:cs typeface="+mn-lt"/>
              </a:rPr>
              <a:t>Accuracy</a:t>
            </a:r>
            <a:r>
              <a:rPr lang="en-US" sz="1500" dirty="0">
                <a:ea typeface="+mn-lt"/>
                <a:cs typeface="+mn-lt"/>
              </a:rPr>
              <a:t>, </a:t>
            </a:r>
            <a:r>
              <a:rPr lang="en-US" sz="1500" b="1" dirty="0">
                <a:ea typeface="+mn-lt"/>
                <a:cs typeface="+mn-lt"/>
              </a:rPr>
              <a:t>Precision</a:t>
            </a:r>
            <a:r>
              <a:rPr lang="en-US" sz="1500" dirty="0">
                <a:ea typeface="+mn-lt"/>
                <a:cs typeface="+mn-lt"/>
              </a:rPr>
              <a:t>, </a:t>
            </a:r>
            <a:r>
              <a:rPr lang="en-US" sz="1500" b="1" dirty="0">
                <a:ea typeface="+mn-lt"/>
                <a:cs typeface="+mn-lt"/>
              </a:rPr>
              <a:t>Recall</a:t>
            </a:r>
            <a:r>
              <a:rPr lang="en-US" sz="1500" dirty="0">
                <a:ea typeface="+mn-lt"/>
                <a:cs typeface="+mn-lt"/>
              </a:rPr>
              <a:t>, and </a:t>
            </a:r>
            <a:r>
              <a:rPr lang="en-US" sz="1500" b="1" dirty="0">
                <a:ea typeface="+mn-lt"/>
                <a:cs typeface="+mn-lt"/>
              </a:rPr>
              <a:t>F1-score</a:t>
            </a:r>
            <a:r>
              <a:rPr lang="en-US" sz="1500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1500">
                <a:ea typeface="+mn-lt"/>
                <a:cs typeface="+mn-lt"/>
              </a:rPr>
              <a:t>Confusion matrix shows strong diagonal dominance, indicating </a:t>
            </a:r>
            <a:r>
              <a:rPr lang="en-US" sz="1500" b="1">
                <a:ea typeface="+mn-lt"/>
                <a:cs typeface="+mn-lt"/>
              </a:rPr>
              <a:t>high correct classification rates</a:t>
            </a:r>
            <a:r>
              <a:rPr lang="en-US" sz="150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1500">
                <a:ea typeface="+mn-lt"/>
                <a:cs typeface="+mn-lt"/>
              </a:rPr>
              <a:t>Misclassifications are relatively low, showing the model captured meaningful patterns in the data.</a:t>
            </a:r>
            <a:endParaRPr lang="en-US"/>
          </a:p>
          <a:p>
            <a:r>
              <a:rPr lang="en-US" sz="1500">
                <a:ea typeface="+mn-lt"/>
                <a:cs typeface="+mn-lt"/>
              </a:rPr>
              <a:t>The model is </a:t>
            </a:r>
            <a:r>
              <a:rPr lang="en-US" sz="1500" b="1">
                <a:ea typeface="+mn-lt"/>
                <a:cs typeface="+mn-lt"/>
              </a:rPr>
              <a:t>easy to interpret</a:t>
            </a:r>
            <a:r>
              <a:rPr lang="en-US" sz="1500">
                <a:ea typeface="+mn-lt"/>
                <a:cs typeface="+mn-lt"/>
              </a:rPr>
              <a:t>, making it useful for understanding decision paths.</a:t>
            </a:r>
            <a:endParaRPr lang="en-US"/>
          </a:p>
          <a:p>
            <a:endParaRPr lang="en-US" sz="1500" dirty="0">
              <a:ea typeface="Calibri"/>
              <a:cs typeface="Calibri"/>
            </a:endParaRPr>
          </a:p>
          <a:p>
            <a:endParaRPr lang="en-US" sz="1500"/>
          </a:p>
          <a:p>
            <a:endParaRPr lang="en-US" sz="1500">
              <a:ea typeface="Calibri"/>
              <a:cs typeface="Calibri"/>
            </a:endParaRPr>
          </a:p>
        </p:txBody>
      </p:sp>
      <p:pic>
        <p:nvPicPr>
          <p:cNvPr id="4" name="Picture 3" descr="A diagram of a tree&#10;&#10;AI-generated content may be incorrect.">
            <a:extLst>
              <a:ext uri="{FF2B5EF4-FFF2-40B4-BE49-F238E27FC236}">
                <a16:creationId xmlns:a16="http://schemas.microsoft.com/office/drawing/2014/main" id="{1184D767-9614-1245-4776-D4009AA73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272901"/>
            <a:ext cx="5191506" cy="44127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20953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5" y="978619"/>
            <a:ext cx="2558034" cy="1106424"/>
          </a:xfrm>
        </p:spPr>
        <p:txBody>
          <a:bodyPr>
            <a:normAutofit/>
          </a:bodyPr>
          <a:lstStyle/>
          <a:p>
            <a:r>
              <a:rPr lang="en-US" sz="2400"/>
              <a:t>Classification – KNN (Sampled)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1300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093976"/>
            <a:ext cx="2496312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238" y="2252870"/>
            <a:ext cx="2726432" cy="376097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1500" dirty="0">
                <a:ea typeface="+mn-lt"/>
                <a:cs typeface="+mn-lt"/>
              </a:rPr>
              <a:t>KNN classifier trained on a sampled subset of the dataset.</a:t>
            </a:r>
            <a:endParaRPr lang="en-US" sz="1500" dirty="0">
              <a:ea typeface="Calibri"/>
              <a:cs typeface="Calibri"/>
            </a:endParaRPr>
          </a:p>
          <a:p>
            <a:r>
              <a:rPr lang="en-US" sz="1500" dirty="0">
                <a:ea typeface="+mn-lt"/>
                <a:cs typeface="+mn-lt"/>
              </a:rPr>
              <a:t>Captures local neighborhood patterns to classify customer behavior.</a:t>
            </a:r>
            <a:endParaRPr lang="en-US" dirty="0">
              <a:ea typeface="+mn-lt"/>
              <a:cs typeface="+mn-lt"/>
            </a:endParaRPr>
          </a:p>
          <a:p>
            <a:r>
              <a:rPr lang="en-US" sz="1500" dirty="0">
                <a:ea typeface="+mn-lt"/>
                <a:cs typeface="+mn-lt"/>
              </a:rPr>
              <a:t>Confusion matrix shows moderate diagonal alignment, indicating correct predictions in many classes.</a:t>
            </a:r>
            <a:endParaRPr lang="en-US" dirty="0"/>
          </a:p>
          <a:p>
            <a:r>
              <a:rPr lang="en-US" sz="1500" dirty="0">
                <a:ea typeface="+mn-lt"/>
                <a:cs typeface="+mn-lt"/>
              </a:rPr>
              <a:t>Some misclassifications occur due to overlapping feature values and sensitivity to scaling.</a:t>
            </a:r>
            <a:endParaRPr lang="en-US">
              <a:ea typeface="Calibri"/>
              <a:cs typeface="Calibri"/>
            </a:endParaRPr>
          </a:p>
          <a:p>
            <a:r>
              <a:rPr lang="en-US" sz="1500" dirty="0">
                <a:ea typeface="+mn-lt"/>
                <a:cs typeface="+mn-lt"/>
              </a:rPr>
              <a:t>Useful for comparison against the Decision Tree model.</a:t>
            </a:r>
            <a:endParaRPr lang="en-US" dirty="0"/>
          </a:p>
          <a:p>
            <a:endParaRPr lang="en-US" sz="1500" dirty="0">
              <a:ea typeface="Calibri"/>
              <a:cs typeface="Calibri"/>
            </a:endParaRPr>
          </a:p>
          <a:p>
            <a:endParaRPr lang="en-US" sz="1500">
              <a:ea typeface="Calibri"/>
              <a:cs typeface="Calibri"/>
            </a:endParaRPr>
          </a:p>
        </p:txBody>
      </p:sp>
      <p:pic>
        <p:nvPicPr>
          <p:cNvPr id="4" name="Picture 3" descr="A yellow and purple matrix&#10;&#10;AI-generated content may be incorrect.">
            <a:extLst>
              <a:ext uri="{FF2B5EF4-FFF2-40B4-BE49-F238E27FC236}">
                <a16:creationId xmlns:a16="http://schemas.microsoft.com/office/drawing/2014/main" id="{B715E237-A939-B270-31E1-86E69AC3D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256842"/>
            <a:ext cx="4992624" cy="42437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anchor="b">
            <a:normAutofit/>
          </a:bodyPr>
          <a:lstStyle/>
          <a:p>
            <a:r>
              <a:rPr lang="en-US" sz="3000"/>
              <a:t>Clustering – K-Means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610" y="2684095"/>
            <a:ext cx="3343516" cy="38608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ea typeface="+mn-lt"/>
                <a:cs typeface="+mn-lt"/>
              </a:rPr>
              <a:t>Performed customer segmentation using scaled numerical features.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PCA was applied for 2D visualization of clusters.</a:t>
            </a:r>
            <a:endParaRPr lang="en-US" dirty="0"/>
          </a:p>
          <a:p>
            <a:r>
              <a:rPr lang="en-US" sz="1600" dirty="0">
                <a:ea typeface="+mn-lt"/>
                <a:cs typeface="+mn-lt"/>
              </a:rPr>
              <a:t>K-Means identified </a:t>
            </a:r>
            <a:r>
              <a:rPr lang="en-US" sz="1600" b="1" dirty="0">
                <a:ea typeface="+mn-lt"/>
                <a:cs typeface="+mn-lt"/>
              </a:rPr>
              <a:t>three distinct customer groups</a:t>
            </a:r>
            <a:r>
              <a:rPr lang="en-US" sz="1600" dirty="0">
                <a:ea typeface="+mn-lt"/>
                <a:cs typeface="+mn-lt"/>
              </a:rPr>
              <a:t> based on their purchasing patterns.</a:t>
            </a:r>
            <a:endParaRPr lang="en-US" dirty="0"/>
          </a:p>
          <a:p>
            <a:r>
              <a:rPr lang="en-US" sz="1600" dirty="0">
                <a:ea typeface="+mn-lt"/>
                <a:cs typeface="+mn-lt"/>
              </a:rPr>
              <a:t>Silhouette score confirmed that the clusters have reasonable separation.</a:t>
            </a:r>
            <a:endParaRPr lang="en-US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Helps in understanding customer types for targeted marketing and personalization.</a:t>
            </a:r>
          </a:p>
          <a:p>
            <a:endParaRPr lang="en-US"/>
          </a:p>
          <a:p>
            <a:endParaRPr lang="en-US" sz="1600" dirty="0">
              <a:ea typeface="Calibri"/>
              <a:cs typeface="Calibri"/>
            </a:endParaRPr>
          </a:p>
          <a:p>
            <a:endParaRPr lang="en-US" sz="1600"/>
          </a:p>
          <a:p>
            <a:endParaRPr lang="en-US" sz="1600">
              <a:ea typeface="Calibri"/>
              <a:cs typeface="Calibri"/>
            </a:endParaRPr>
          </a:p>
        </p:txBody>
      </p:sp>
      <p:pic>
        <p:nvPicPr>
          <p:cNvPr id="4" name="Picture 3" descr="A chart with dots and numbers&#10;&#10;AI-generated content may be incorrect.">
            <a:extLst>
              <a:ext uri="{FF2B5EF4-FFF2-40B4-BE49-F238E27FC236}">
                <a16:creationId xmlns:a16="http://schemas.microsoft.com/office/drawing/2014/main" id="{38E94158-6955-DD4C-D2AD-930CD77C1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362" y="1342399"/>
            <a:ext cx="4830318" cy="41178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Association Rule Mining – Apriori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045020" cy="43513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 err="1">
                <a:ea typeface="+mn-lt"/>
                <a:cs typeface="+mn-lt"/>
              </a:rPr>
              <a:t>Apriori</a:t>
            </a:r>
            <a:r>
              <a:rPr lang="en-US" dirty="0">
                <a:ea typeface="+mn-lt"/>
                <a:cs typeface="+mn-lt"/>
              </a:rPr>
              <a:t> algorithm discovered frequent item combinations in customer transactions.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Rules evaluated using </a:t>
            </a:r>
            <a:r>
              <a:rPr lang="en-US" b="1" dirty="0">
                <a:ea typeface="+mn-lt"/>
                <a:cs typeface="+mn-lt"/>
              </a:rPr>
              <a:t>support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confidence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lift</a:t>
            </a:r>
            <a:r>
              <a:rPr lang="en-US" dirty="0">
                <a:ea typeface="+mn-lt"/>
                <a:cs typeface="+mn-lt"/>
              </a:rPr>
              <a:t>, identifying strong product relationships.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High-lift rules (shown in the chart) reveal items that are commonly purchased together.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Provides insights for </a:t>
            </a:r>
            <a:r>
              <a:rPr lang="en-US" b="1" dirty="0">
                <a:ea typeface="+mn-lt"/>
                <a:cs typeface="+mn-lt"/>
              </a:rPr>
              <a:t>cross-selling, product placement, and bundle recommendations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173C0123-D387-70F0-1584-2ACAC29A1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388" y="2110940"/>
            <a:ext cx="2835788" cy="199214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- Data privacy (CustomerID handling)</a:t>
            </a:r>
          </a:p>
          <a:p>
            <a:r>
              <a:rPr lang="en-US" sz="1700"/>
              <a:t>- Bias due to geographic imbalance</a:t>
            </a:r>
          </a:p>
          <a:p>
            <a:r>
              <a:rPr lang="en-US" sz="1700"/>
              <a:t>- Avoiding discriminatory modeling</a:t>
            </a:r>
          </a:p>
          <a:p>
            <a:r>
              <a:rPr lang="en-US" sz="1700"/>
              <a:t>- Ensuring transparency and fairness</a:t>
            </a:r>
          </a:p>
        </p:txBody>
      </p:sp>
      <p:pic>
        <p:nvPicPr>
          <p:cNvPr id="5" name="Picture 4" descr="A digital balance scale using circles">
            <a:extLst>
              <a:ext uri="{FF2B5EF4-FFF2-40B4-BE49-F238E27FC236}">
                <a16:creationId xmlns:a16="http://schemas.microsoft.com/office/drawing/2014/main" id="{20A5DC7A-7BF6-1FF7-6B87-1E3DBE184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70" r="33520" b="-7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Practical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360B18-5986-CA08-4DB0-2D3BDB57DB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236841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The complete data mining workflow generated actionable business insights.</a:t>
            </a:r>
          </a:p>
          <a:p>
            <a:r>
              <a:rPr lang="en-US" sz="1700"/>
              <a:t>Supports segmentation, forecasting, and cross-selling optimization.</a:t>
            </a: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AC0280F7-012A-CFA2-512E-0BB67AF10E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74" r="33042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Final Project – MSCS 634</vt:lpstr>
      <vt:lpstr>Introduction</vt:lpstr>
      <vt:lpstr>Dataset Description</vt:lpstr>
      <vt:lpstr>Data Preprocessing</vt:lpstr>
      <vt:lpstr>Key EDA Insights</vt:lpstr>
      <vt:lpstr>Regression Model – RidgeCV</vt:lpstr>
      <vt:lpstr>Classification – Decision Tree</vt:lpstr>
      <vt:lpstr>Classification – KNN (Sampled)</vt:lpstr>
      <vt:lpstr>Clustering – K-Means</vt:lpstr>
      <vt:lpstr>Association Rule Mining – Apriori</vt:lpstr>
      <vt:lpstr>Ethical Considerations</vt:lpstr>
      <vt:lpstr>Practical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125</cp:revision>
  <dcterms:created xsi:type="dcterms:W3CDTF">2013-01-27T09:14:16Z</dcterms:created>
  <dcterms:modified xsi:type="dcterms:W3CDTF">2025-12-12T18:47:26Z</dcterms:modified>
  <cp:category/>
</cp:coreProperties>
</file>